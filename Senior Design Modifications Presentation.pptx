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d1d736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7d1d736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7d1d736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7d1d736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7d1d7368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7d1d7368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7d1d7368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7d1d7368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7d1d7368a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7d1d7368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07b233e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07b233e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7d1d7368a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7d1d7368a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7d1d7368a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7d1d7368a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wCOPLVgNpcY" TargetMode="External"/><Relationship Id="rId4" Type="http://schemas.openxmlformats.org/officeDocument/2006/relationships/hyperlink" Target="https://www.youtube.com/watch?v=A33Dxrkd-WQ" TargetMode="External"/><Relationship Id="rId10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hyperlink" Target="https://www.dfrobot.com/product-1125.html" TargetMode="External"/><Relationship Id="rId6" Type="http://schemas.openxmlformats.org/officeDocument/2006/relationships/hyperlink" Target="https://www.youtube.com/watch?v=VhbFbxyOI1k" TargetMode="External"/><Relationship Id="rId7" Type="http://schemas.openxmlformats.org/officeDocument/2006/relationships/hyperlink" Target="https://realsenseai.com/" TargetMode="External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F9lim5l9R7c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4435275" y="1596000"/>
            <a:ext cx="4119300" cy="15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Senior Design: Robo-Cub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Team: </a:t>
            </a:r>
            <a:r>
              <a:rPr lang="en"/>
              <a:t>Ivan Cortez, Ashour Shamoun, Sarthak Bhatia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Advisor: Farbod Khoshnoud</a:t>
            </a:r>
            <a:endParaRPr/>
          </a:p>
        </p:txBody>
      </p:sp>
      <p:pic>
        <p:nvPicPr>
          <p:cNvPr id="136" name="Google Shape;136;p13" title="bourns-college-of-engineering-rgb-horz_ori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24" y="3278525"/>
            <a:ext cx="4183850" cy="13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823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/ </a:t>
            </a:r>
            <a:r>
              <a:rPr lang="en"/>
              <a:t>Project</a:t>
            </a:r>
            <a:r>
              <a:rPr lang="en"/>
              <a:t> Idea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52125" y="1330800"/>
            <a:ext cx="5726700" cy="37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UC Riverside welcomes so many new students and visitors each year, and finding your way around campus for the first time can be stressful or confusing.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Robo-Cub is designed to help by offering a simple and accessible way to explore campus and reach key locations without needing prior knowledge of where things are.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With smart sensors and navigation technology, it can safely move alongside people — even in busy walkways, uneven outdoor areas, or inside buildings.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system focuses on being cost-efficient, dependable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 goal is to create a friendly, helpful tour experience that showcases the innovative spirit of UC Riverside.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559" y="1077750"/>
            <a:ext cx="1823917" cy="341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82825" y="1217850"/>
            <a:ext cx="6039600" cy="3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110">
                <a:latin typeface="Arial"/>
                <a:ea typeface="Arial"/>
                <a:cs typeface="Arial"/>
                <a:sym typeface="Arial"/>
              </a:rPr>
              <a:t>Ultrasonic Sensors </a:t>
            </a:r>
            <a:endParaRPr b="1" sz="4110">
              <a:latin typeface="Arial"/>
              <a:ea typeface="Arial"/>
              <a:cs typeface="Arial"/>
              <a:sym typeface="Arial"/>
            </a:endParaRPr>
          </a:p>
          <a:p>
            <a:pPr indent="-29385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4110">
                <a:latin typeface="Arial"/>
                <a:ea typeface="Arial"/>
                <a:cs typeface="Arial"/>
                <a:sym typeface="Arial"/>
              </a:rPr>
              <a:t>Help Robo-Cub notice nearby obstacles like people or benches so it can react quickly</a:t>
            </a:r>
            <a:br>
              <a:rPr lang="en" sz="4110">
                <a:latin typeface="Arial"/>
                <a:ea typeface="Arial"/>
                <a:cs typeface="Arial"/>
                <a:sym typeface="Arial"/>
              </a:rPr>
            </a:br>
            <a:endParaRPr sz="4110">
              <a:latin typeface="Arial"/>
              <a:ea typeface="Arial"/>
              <a:cs typeface="Arial"/>
              <a:sym typeface="Arial"/>
            </a:endParaRPr>
          </a:p>
          <a:p>
            <a:pPr indent="-2811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0538"/>
              <a:buFont typeface="Arial"/>
              <a:buChar char="●"/>
            </a:pPr>
            <a:r>
              <a:rPr lang="en" sz="4110">
                <a:latin typeface="Arial"/>
                <a:ea typeface="Arial"/>
                <a:cs typeface="Arial"/>
                <a:sym typeface="Arial"/>
              </a:rPr>
              <a:t>Affordable and simple, making them great for safety in tight or crowded areas</a:t>
            </a:r>
            <a:endParaRPr sz="331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1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https://www.youtube.com/watch?v=wCOPLVgNpcY</a:t>
            </a:r>
            <a:r>
              <a:rPr lang="en" sz="3310">
                <a:latin typeface="Arial"/>
                <a:ea typeface="Arial"/>
                <a:cs typeface="Arial"/>
                <a:sym typeface="Arial"/>
              </a:rPr>
              <a:t> </a:t>
            </a:r>
            <a:endParaRPr sz="331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1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https://www.youtube.com/watch?v=A33Dxrkd-WQ</a:t>
            </a:r>
            <a:r>
              <a:rPr lang="en" sz="3310">
                <a:latin typeface="Arial"/>
                <a:ea typeface="Arial"/>
                <a:cs typeface="Arial"/>
                <a:sym typeface="Arial"/>
              </a:rPr>
              <a:t> </a:t>
            </a:r>
            <a:endParaRPr sz="33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110">
                <a:latin typeface="Arial"/>
                <a:ea typeface="Arial"/>
                <a:cs typeface="Arial"/>
                <a:sym typeface="Arial"/>
              </a:rPr>
              <a:t>LiDAR</a:t>
            </a:r>
            <a:endParaRPr b="1" sz="4110">
              <a:latin typeface="Arial"/>
              <a:ea typeface="Arial"/>
              <a:cs typeface="Arial"/>
              <a:sym typeface="Arial"/>
            </a:endParaRPr>
          </a:p>
          <a:p>
            <a:pPr indent="-29385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4110">
                <a:latin typeface="Arial"/>
                <a:ea typeface="Arial"/>
                <a:cs typeface="Arial"/>
                <a:sym typeface="Arial"/>
              </a:rPr>
              <a:t>Builds a detailed map of the surroundings for smooth navigation through complex paths</a:t>
            </a:r>
            <a:br>
              <a:rPr lang="en" sz="4110">
                <a:latin typeface="Arial"/>
                <a:ea typeface="Arial"/>
                <a:cs typeface="Arial"/>
                <a:sym typeface="Arial"/>
              </a:rPr>
            </a:br>
            <a:endParaRPr sz="4110">
              <a:latin typeface="Arial"/>
              <a:ea typeface="Arial"/>
              <a:cs typeface="Arial"/>
              <a:sym typeface="Arial"/>
            </a:endParaRPr>
          </a:p>
          <a:p>
            <a:pPr indent="-2938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4110">
                <a:latin typeface="Arial"/>
                <a:ea typeface="Arial"/>
                <a:cs typeface="Arial"/>
                <a:sym typeface="Arial"/>
              </a:rPr>
              <a:t>Provides precise distance data so the robot can plan smart, safe routes</a:t>
            </a:r>
            <a:endParaRPr sz="411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1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https://www.dfrobot.com/product-1125.html</a:t>
            </a:r>
            <a:r>
              <a:rPr lang="en" sz="211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sz="3310">
                <a:latin typeface="Arial"/>
                <a:ea typeface="Arial"/>
                <a:cs typeface="Arial"/>
                <a:sym typeface="Arial"/>
              </a:rPr>
            </a:br>
            <a:r>
              <a:rPr lang="en" sz="331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https://www.youtube.com/watch?v=VhbFbxyOI1k</a:t>
            </a:r>
            <a:r>
              <a:rPr lang="en" sz="3310">
                <a:latin typeface="Arial"/>
                <a:ea typeface="Arial"/>
                <a:cs typeface="Arial"/>
                <a:sym typeface="Arial"/>
              </a:rPr>
              <a:t> </a:t>
            </a:r>
            <a:endParaRPr sz="33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110">
                <a:latin typeface="Arial"/>
                <a:ea typeface="Arial"/>
                <a:cs typeface="Arial"/>
                <a:sym typeface="Arial"/>
              </a:rPr>
              <a:t>Vision Cameras</a:t>
            </a:r>
            <a:endParaRPr b="1" sz="4110">
              <a:latin typeface="Arial"/>
              <a:ea typeface="Arial"/>
              <a:cs typeface="Arial"/>
              <a:sym typeface="Arial"/>
            </a:endParaRPr>
          </a:p>
          <a:p>
            <a:pPr indent="-29385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4110">
                <a:latin typeface="Arial"/>
                <a:ea typeface="Arial"/>
                <a:cs typeface="Arial"/>
                <a:sym typeface="Arial"/>
              </a:rPr>
              <a:t>Allow Robo-Cub to recognize people and respond to gestures or movement</a:t>
            </a:r>
            <a:br>
              <a:rPr lang="en" sz="4110">
                <a:latin typeface="Arial"/>
                <a:ea typeface="Arial"/>
                <a:cs typeface="Arial"/>
                <a:sym typeface="Arial"/>
              </a:rPr>
            </a:br>
            <a:endParaRPr sz="4110">
              <a:latin typeface="Arial"/>
              <a:ea typeface="Arial"/>
              <a:cs typeface="Arial"/>
              <a:sym typeface="Arial"/>
            </a:endParaRPr>
          </a:p>
          <a:p>
            <a:pPr indent="-29385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" sz="4110">
                <a:latin typeface="Arial"/>
                <a:ea typeface="Arial"/>
                <a:cs typeface="Arial"/>
                <a:sym typeface="Arial"/>
              </a:rPr>
              <a:t>Improve interaction by helping the robot “see” what’s happening around it</a:t>
            </a:r>
            <a:endParaRPr sz="411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1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https://realsenseai.com/</a:t>
            </a:r>
            <a:r>
              <a:rPr lang="en" sz="4110">
                <a:latin typeface="Arial"/>
                <a:ea typeface="Arial"/>
                <a:cs typeface="Arial"/>
                <a:sym typeface="Arial"/>
              </a:rPr>
              <a:t> </a:t>
            </a:r>
            <a:endParaRPr sz="41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29325" y="2571751"/>
            <a:ext cx="1575676" cy="12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9">
            <a:alphaModFix/>
          </a:blip>
          <a:srcRect b="17719" l="3274" r="10785" t="9690"/>
          <a:stretch/>
        </p:blipFill>
        <p:spPr>
          <a:xfrm>
            <a:off x="6122425" y="1464988"/>
            <a:ext cx="2022725" cy="94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33224" y="3885200"/>
            <a:ext cx="3294450" cy="11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4384775" y="420650"/>
            <a:ext cx="44595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highlight>
                  <a:schemeClr val="accent6"/>
                </a:highlight>
              </a:rPr>
              <a:t>LiDAR + Ultrasonic</a:t>
            </a:r>
            <a:r>
              <a:rPr lang="en" sz="900">
                <a:solidFill>
                  <a:schemeClr val="lt1"/>
                </a:solidFill>
                <a:highlight>
                  <a:schemeClr val="accent6"/>
                </a:highlight>
              </a:rPr>
              <a:t> = strong navigation + safety</a:t>
            </a:r>
            <a:endParaRPr sz="900">
              <a:solidFill>
                <a:schemeClr val="lt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chemeClr val="lt1"/>
                </a:solidFill>
                <a:highlight>
                  <a:schemeClr val="accent6"/>
                </a:highlight>
              </a:rPr>
              <a:t>Camera</a:t>
            </a:r>
            <a:r>
              <a:rPr lang="en" sz="900">
                <a:solidFill>
                  <a:schemeClr val="lt1"/>
                </a:solidFill>
                <a:highlight>
                  <a:schemeClr val="accent6"/>
                </a:highlight>
              </a:rPr>
              <a:t> = human interaction and recognition (bonus feature)</a:t>
            </a:r>
            <a:endParaRPr sz="900">
              <a:solidFill>
                <a:schemeClr val="lt1"/>
              </a:solidFill>
              <a:highlight>
                <a:schemeClr val="accent6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</a:t>
            </a:r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50275" y="1466325"/>
            <a:ext cx="5511000" cy="31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GPS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gives Robo-Cub its location outside so it knows where it is on campus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SLAM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keeps track of position and builds a map indoors where GPS doesn’t work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 use both GPS and SLAM so Robo-Cub can navigate outdoors and indoors reliably without getting lost.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Raspberry Pi or arduino runs the control code</a:t>
            </a:r>
            <a:endParaRPr/>
          </a:p>
        </p:txBody>
      </p:sp>
      <p:pic>
        <p:nvPicPr>
          <p:cNvPr id="160" name="Google Shape;1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800" y="1640200"/>
            <a:ext cx="3177925" cy="178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5875050" y="3710475"/>
            <a:ext cx="3177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https://www.youtube.com/watch?v=F9lim5l9R7c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Solar power/ Battery</a:t>
            </a:r>
            <a:endParaRPr/>
          </a:p>
        </p:txBody>
      </p:sp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-98750" y="1450475"/>
            <a:ext cx="7109100" cy="32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Solar Power / Battery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Mount the main solar panel on the hat, tilted slightly upward for better sunlight capture.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 a smaller rear panel on the top rails to collect light when the hat casts a shadow.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Example: Dakota Lithium 20 W Flexible 12 V Solar Panel: Lightweight, flexible, and ideal for curved surfaces.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Why Lithium Batteries?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High Energy Density: Compact and lightweight for mobile use.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Long Lifespan: Withstands many charge cycles with minimal degradation.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Low Self-Discharge: Holds charge well between uses — great for intermittent operation.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Example: 12.8 V 15 Ah LiFePO₄ which would handle like 3 hours of charge for what we are asking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4.6 V CC/CV charger, 3–10 A which would take about 3-4 hours to go from low to full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A small base the robot noses into so it can stay still to plug feed a smart charger</a:t>
            </a:r>
            <a:endParaRPr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8743" y="1232768"/>
            <a:ext cx="1684526" cy="191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5000" y="3239975"/>
            <a:ext cx="1788275" cy="17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research</a:t>
            </a:r>
            <a:endParaRPr/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101500" y="1450450"/>
            <a:ext cx="61977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Arduino Uno can not handle the </a:t>
            </a:r>
            <a:r>
              <a:rPr lang="en"/>
              <a:t>navigation</a:t>
            </a:r>
            <a:r>
              <a:rPr lang="en"/>
              <a:t> ai with also sensor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</a:t>
            </a:r>
            <a:r>
              <a:rPr lang="en"/>
              <a:t>could</a:t>
            </a:r>
            <a:r>
              <a:rPr lang="en"/>
              <a:t> do this though: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Brain: Raspberry Pi parses intent and sends simple commands to Arduino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Arduino: Handles motors, sensors, safety; speaks status on events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can code words like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Wake Word + Commands: “Scotty… take me to Humanities”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/>
              <a:t>We can also do :</a:t>
            </a:r>
            <a:endParaRPr sz="125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Speech-to-Text: Vosk (offline)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Text-to-Speech: Piper (natural voice)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vosk and piper:</a:t>
            </a:r>
            <a:endParaRPr/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Vosk: Basically the ear and brain : Very accurate for small, focused word sets.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Piper: Basically </a:t>
            </a:r>
            <a:r>
              <a:rPr lang="en"/>
              <a:t>scotty's</a:t>
            </a:r>
            <a:r>
              <a:rPr lang="en"/>
              <a:t> voice: uses neural voices, so it sounds natural, not robotic.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outreach</a:t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502025" y="1892025"/>
            <a:ext cx="7782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Company’s I’ll probably reach out to before next week so we can see if we can get discounts or anything off our equipment in future: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/>
              <a:t>Dakota Lithium → battery support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/>
              <a:t>Renogy → solar panel support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/>
              <a:t>SparkFun → sensors / microcontrollers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/>
              <a:t>Picovoice.ai → voice AI license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/>
              <a:t>Adafruit Industries → electronics discounts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Suspension System / Mechanical Upgrade</a:t>
            </a:r>
            <a:endParaRPr/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48300" y="1307850"/>
            <a:ext cx="5940300" cy="36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The current RoboCUB can only operate reliably on very flat floors due to its rigid frame, which leads to poor traction and balance on rough or sloped surfaces.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This year’s update introduces a compact suspension system to: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Maintain even ground contact on uneven surfaces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Improve stability and traction during skid-steer turning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Reduce stress on the chassis and electronics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Suspension design is inspired by RC off-road vehicles (e.g., Arrma Outcast 8S).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Uses coil-over shock absorbers to allow each wheel limited vertical travel.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8" name="Google Shape;188;p20" title="arrm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1000" y="1460250"/>
            <a:ext cx="2850600" cy="189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Suspension Goals and Integration Plan</a:t>
            </a:r>
            <a:endParaRPr/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-531225" y="1307850"/>
            <a:ext cx="7038900" cy="3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Goals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Improve maneuverability during differential (skid-steer) motion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Keep robot level while crossing joints or ramps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Protect internal components from vibration and impact</a:t>
            </a:r>
            <a:br>
              <a:rPr lang="en" sz="1500"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Components under consideration: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Arrma Outcast or other similar RC Vehicle shocks (lightweight aluminum, oil-filled)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Custom 3D-printed mounts and arms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Testing Plan: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Compare current rigid frame vs. suspended setup using load and traction tests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○"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Determine appropriate spring stiffness for balance between stability and compliance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0638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25"/>
              <a:buChar char="●"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5" name="Google Shape;195;p21" title="arrma 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3550" y="1946848"/>
            <a:ext cx="2627300" cy="208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